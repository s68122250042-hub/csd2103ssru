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2489001"/>
            <a:ext cx="3924300" cy="36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55632" y="3089076"/>
            <a:ext cx="588073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0" i="0" u="none">
                <a:solidFill>
                  <a:srgbClr val="0F172A"/>
                </a:solidFill>
                <a:latin typeface="Prompt SemiBold"/>
              </a:rPr>
              <a:t>คิวเชิงเส้น vs คิววงกลม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1675" y="3919537"/>
            <a:ext cx="82486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Sarabun"/>
              </a:rPr>
              <a:t>การประยุกต์ใช้งานในระบบบัฟเฟอร์แพ็กเก็ตเครือข่ายเราเตอร์ (Network Packet Buffer System)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420" y="2584251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6107"/>
            <a:ext cx="5381625" cy="23735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66107"/>
            <a:ext cx="5381625" cy="2373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961382"/>
            <a:ext cx="5030628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rompt SemiBold"/>
              </a:rPr>
              <a:t>โครงสร้างการนำเข้า/ส่งออก (I/O)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418582"/>
            <a:ext cx="4791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คำสั่ง ENQUEUE: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แนบวัตถุ Packet ประกอบด้วย Packet ID, Arrival Time, Size และ Priority เข้าสู่บัฟเฟอร์ตามลำดับเวลา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81462"/>
            <a:ext cx="4791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คำสั่ง DEQUEUE: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ปลดปล่อยแพ็กเก็ตออกจากบัฟเฟอร์ตามมาตรฐาน FIFO (First-In, First-Out) เพื่อรักษาความเที่ยงตรงของสายสัญญาณ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961382"/>
            <a:ext cx="5030628" cy="3429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rompt SemiBold"/>
              </a:rPr>
              <a:t>ข้อจำกัดระบบ (Constraints)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418582"/>
            <a:ext cx="4791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ความจุคงที่ (Capacity = 5):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บัฟเฟอร์จำกัดพื้นที่จัดเก็บสูงสุด 5 แพ็กเก็ต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081462"/>
            <a:ext cx="47910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การจัดการเมื่อคิวเต็ม: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หากบัฟเฟอร์เต็ม แพ็กเก็ตใหม่จะถูกคัดทิ้ง (Dropped) ทันที โดยไม่มีการเขียนทับแพ็กเก็ตเดิมในระบบ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009007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009007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293B"/>
                </a:solidFill>
                <a:latin typeface="Prompt SemiBold"/>
              </a:rPr>
              <a:t>วิเคราะห์ระบบ I/O และข้อจำกัด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43112"/>
            <a:ext cx="538162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043112"/>
            <a:ext cx="51149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คิววงกลม (Circular Queue)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เป็นโครงสร้างที่เหมาะสมที่สุดสำหรับเราเตอร์ เนื่องจากทำงานบนหน่วยความจำอาเรย์ขนาดคงที่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705992"/>
            <a:ext cx="51149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หมุนเวียนทรัพยากร 100%: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เมื่อมีการ Dequeue สามารถนำดัชนีช่องว่างด้านหน้ากลับมาใช้ใหม่ได้ทันทีผ่านสมการ Modulo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368873"/>
            <a:ext cx="51149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ขจัดปัญหา False Overflow: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คิวเชิงเส้น (Linear Queue) มีข้อจำกัดที่ดัชนีขยับไปข้างหน้าทางเดียว ทำให้เกิดสภาวะ "คิวเต็มหลอก" แม้ยังมีพื้นที่ว่าง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52637"/>
            <a:ext cx="536257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293B"/>
                </a:solidFill>
                <a:latin typeface="Prompt SemiBold"/>
              </a:rPr>
              <a:t>แนวคิดบัฟเฟอร์เครือข่าย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62162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25042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7923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4600"/>
            <a:ext cx="5381625" cy="26763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14600"/>
            <a:ext cx="5381625" cy="2676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09875"/>
            <a:ext cx="503062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rompt SemiBold"/>
              </a:rPr>
              <a:t>Linear Queue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267075"/>
            <a:ext cx="4791075" cy="28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การเช็คคิวเต็ม: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ตรวจสอบเงื่อนไข rear == capacity - 1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65190"/>
            <a:ext cx="47910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ข้อเสียสำคัญ: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เมื่อ rear เลื่อนถึงดัชนีสุดท้าย ระบบจะรายงานว่าบัฟเฟอร์เต็มทันที แม้ว่าจะมีพื้นที่ว่างด้านหน้าจากการ Dequeue แล้วก็ตาม (เกิด False Overflow)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809875"/>
            <a:ext cx="503062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rompt SemiBold"/>
              </a:rPr>
              <a:t>Circular Queue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267075"/>
            <a:ext cx="4791075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การคำนวณดัชนี: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ใช้โอเปอเรเตอร์ Modulo (rear + 1) mod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949005"/>
            <a:ext cx="4791075" cy="832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จุดเด่นสำคัญ: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สามารถวนดัชนี rear กลับมาที่ตำแหน่ง 0 ได้ ทำให้เช็คสภาวะเต็มจากขนาดข้อมูลจริง size == capacity จึงใช้พื้นที่ได้คุ้มค่าสูงสุด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293B"/>
                </a:solidFill>
                <a:latin typeface="Prompt SemiBold"/>
              </a:rPr>
              <a:t>การเปรียบเทียบขั้นตอนวิธี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1035"/>
            <a:ext cx="11049000" cy="3523654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00560"/>
          <a:ext cx="11029947" cy="3504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4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73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65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Step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Operation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Linear Queue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Linear 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Circular Queue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Circular Result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65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1-3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ENQUEUE P1..P3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rear: -1→2, size: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สำเร็จ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rear: -1→2, size: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สำเร็จ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65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4-5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DEQUEUE x2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front: 0→2, size: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ออก P1, P2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front: 0→2, size: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ออก P1, P2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65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6-7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ENQUEUE P4, P5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rear: 2→4, size: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สำเร็จ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rear: 2→4, size: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สำเร็จ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65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ENQUEUE P6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rear: 4 (ติดขอบขวา)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DROPPED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rear: 4→0 (Wrap)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สำเร็จ (P6)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657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9-11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DEQ / ENQ P7 / DEQ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ติดล็อก rear=4 ถาวร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P7 DROPPED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วนรอบดัชนีต่อเนื่อง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สำเร็จ (P7)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6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ENQUEUE P8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size = 1 แต่เพิ่มไม่ได้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Sarabun"/>
                        </a:rPr>
                        <a:t>DROPPED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rear: 1→2 (Wrap)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 err="1">
                          <a:solidFill>
                            <a:srgbClr val="334155"/>
                          </a:solidFill>
                          <a:latin typeface="Sarabun"/>
                        </a:rPr>
                        <a:t>สำเร็จ</a:t>
                      </a:r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Sarabun"/>
                        </a:rPr>
                        <a:t> (P8)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568178"/>
            <a:ext cx="826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407914" y="2568178"/>
            <a:ext cx="21197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27673" y="2568178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22156" y="2568178"/>
            <a:ext cx="1607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29351" y="2568178"/>
            <a:ext cx="2434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863583" y="2568178"/>
            <a:ext cx="174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050083"/>
            <a:ext cx="826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07914" y="3050083"/>
            <a:ext cx="21197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7673" y="3050083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22156" y="3050083"/>
            <a:ext cx="1607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29351" y="3050083"/>
            <a:ext cx="2434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63583" y="3050083"/>
            <a:ext cx="174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3531989"/>
            <a:ext cx="826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07914" y="3531989"/>
            <a:ext cx="21197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27673" y="3531989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22156" y="3531989"/>
            <a:ext cx="1607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29351" y="3531989"/>
            <a:ext cx="2434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63583" y="3531989"/>
            <a:ext cx="174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1025" y="4013894"/>
            <a:ext cx="826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07914" y="4013894"/>
            <a:ext cx="21197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27673" y="4013894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22156" y="4013894"/>
            <a:ext cx="1607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29351" y="4013894"/>
            <a:ext cx="2434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863583" y="4013894"/>
            <a:ext cx="174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1025" y="4539555"/>
            <a:ext cx="826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407914" y="4539555"/>
            <a:ext cx="21197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27673" y="4539555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22156" y="4539555"/>
            <a:ext cx="1607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29351" y="4539555"/>
            <a:ext cx="2434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863583" y="4539555"/>
            <a:ext cx="174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1025" y="5065216"/>
            <a:ext cx="826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407914" y="5065216"/>
            <a:ext cx="21197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527673" y="5065216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22156" y="5065216"/>
            <a:ext cx="1607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429351" y="5065216"/>
            <a:ext cx="2434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63583" y="5065216"/>
            <a:ext cx="174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81025" y="5590877"/>
            <a:ext cx="8268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407914" y="5590877"/>
            <a:ext cx="21197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527673" y="5590877"/>
            <a:ext cx="229448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822156" y="5590877"/>
            <a:ext cx="16071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29351" y="5590877"/>
            <a:ext cx="2434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863583" y="5590877"/>
            <a:ext cx="17473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286" y="4262308"/>
            <a:ext cx="752475" cy="27801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493" y="4217789"/>
            <a:ext cx="762000" cy="27801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9286" y="4754934"/>
            <a:ext cx="923925" cy="27801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3018" y="4745831"/>
            <a:ext cx="742950" cy="27801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9286" y="5208837"/>
            <a:ext cx="752475" cy="27801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3493" y="5208837"/>
            <a:ext cx="752475" cy="27801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293B"/>
                </a:solidFill>
                <a:latin typeface="Prompt SemiBold"/>
              </a:rPr>
              <a:t>จำลองการทำงาน 12 ขั้นตอน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1300"/>
            <a:ext cx="5381625" cy="2143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171825"/>
            <a:ext cx="498157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2563EB"/>
                </a:solidFill>
                <a:latin typeface="Prompt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4219575"/>
            <a:ext cx="49815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3A8A"/>
                </a:solidFill>
                <a:latin typeface="Prompt SemiBold"/>
              </a:rPr>
              <a:t>Packet Dropped ใน คิววงกลม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8875" y="2824162"/>
            <a:ext cx="565070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rompt SemiBold"/>
              </a:rPr>
              <a:t>สรุปผลกระทบจาก False 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3281362"/>
            <a:ext cx="538162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คิวเชิงเส้น (Linear Queue):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เกิดสภาวะแพ็กเก็ตสูญหายถึง </a:t>
            </a:r>
            <a:r>
              <a:rPr sz="1350" b="1" i="0" u="none">
                <a:solidFill>
                  <a:srgbClr val="334155"/>
                </a:solidFill>
                <a:latin typeface="Sarabun"/>
              </a:rPr>
              <a:t>3 ครั้ง (P6, P7, P8)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จากการทดลอง 12 ขั้นตอน เนื่องจาก rear ชี้ช่องสุดท้ายแล้วไม่สามารถวนกลับได้ ส่งผลให้คิวใช้งานไม่ได้อย่างถาวรจนกว่าจะ 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4218533"/>
            <a:ext cx="53816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Sarabun"/>
              </a:rPr>
              <a:t>คิววงกลม (Circular Queue):</a:t>
            </a:r>
            <a:r>
              <a:rPr sz="1350" b="0" i="0" u="none">
                <a:solidFill>
                  <a:srgbClr val="334155"/>
                </a:solidFill>
                <a:latin typeface="Sarabun"/>
              </a:rPr>
              <a:t> สามารถประมวลผลได้สมบูรณ์ 100% โดยมีอัตราแพ็กเก็ตสูญหายเป็น </a:t>
            </a:r>
            <a:r>
              <a:rPr sz="1350" b="1" i="0" u="none">
                <a:solidFill>
                  <a:srgbClr val="334155"/>
                </a:solidFill>
                <a:latin typeface="Sarabun"/>
              </a:rPr>
              <a:t>0 ครั้ง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293B"/>
                </a:solidFill>
                <a:latin typeface="Prompt SemiBold"/>
              </a:rPr>
              <a:t>อัตราข้อมูลสูญหาย (Packet Loss)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2858"/>
            <a:ext cx="11049000" cy="292000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402383"/>
          <a:ext cx="11029949" cy="2900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9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49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หัวข้อการวิเคราะห์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คิวเชิงเส้น (Linear Queue)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rompt Medium"/>
                        </a:rPr>
                        <a:t>คิววงกลม (Circular Queue)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49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Time Complexity (Enqueue/Dequeue)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49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Space Complexity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O(n)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O(n)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49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Memory Utilization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ต่ำ เกิดช่องว่างขยะด้านหน้าสูญเปล่า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คุ้มค่าสูงสุด 100% หมุนเวียนช่องว่างได้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49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FIFO Invariant Correctness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สูญเสียคุณสมบัติเมื่อเกิด False Overflow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ถูกต้องสมบูรณ์ด้วย (front + i) mod capacity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49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ความเหมาะสมในเราเตอร์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Sarabun"/>
                        </a:rPr>
                        <a:t>ไม่เหมาะสม (เสี่ยงต่อ Packet Loss)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Sarabun"/>
                        </a:rPr>
                        <a:t>ดีเยี่ยมและเหมาะสมที่สุด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870001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50952" y="2870001"/>
            <a:ext cx="32832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34250" y="2870001"/>
            <a:ext cx="4276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351907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50952" y="3351907"/>
            <a:ext cx="32832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34250" y="3351907"/>
            <a:ext cx="4276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833812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50952" y="3833812"/>
            <a:ext cx="32832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34250" y="3833812"/>
            <a:ext cx="4276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315717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50952" y="4315717"/>
            <a:ext cx="32832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34250" y="4315717"/>
            <a:ext cx="4276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807148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50952" y="4807148"/>
            <a:ext cx="32832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34250" y="4807148"/>
            <a:ext cx="4276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5289053"/>
            <a:ext cx="3469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50952" y="5289053"/>
            <a:ext cx="32832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34250" y="5289053"/>
            <a:ext cx="4276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293B"/>
                </a:solidFill>
                <a:latin typeface="Prompt SemiBold"/>
              </a:rPr>
              <a:t>ตารางเปรียบเทียบความซับซ้อน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23975"/>
            <a:ext cx="11049000" cy="5057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981700"/>
            <a:ext cx="9667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Sarabun"/>
              </a:rPr>
              <a:t>* หมายเหตุ: ในขนาดข้อมูลสั้น คิววงกลมทำงานได้ไวกว่าเนื่องจากไม่มี Overhead ย้ายข้อมูล ส่วนข้อมูลขนาดใหญ่ Modulo operation มี Constant factor เพิ่มขึ้นเล็กน้อย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293B"/>
                </a:solidFill>
                <a:latin typeface="Prompt SemiBold"/>
              </a:rPr>
              <a:t>ผลการทดลองวัดเวลาประมวลผล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16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90611" y="2392985"/>
            <a:ext cx="621077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 dirty="0" err="1">
                <a:solidFill>
                  <a:srgbClr val="0F172A"/>
                </a:solidFill>
                <a:latin typeface="Prompt SemiBold"/>
              </a:rPr>
              <a:t>สรุป</a:t>
            </a:r>
            <a:endParaRPr sz="4800" b="0" i="0" u="none" dirty="0">
              <a:solidFill>
                <a:srgbClr val="0F172A"/>
              </a:solidFill>
              <a:latin typeface="Prompt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62249" y="3316910"/>
            <a:ext cx="6667500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475569"/>
                </a:solidFill>
                <a:latin typeface="Sarabun"/>
              </a:rPr>
              <a:t>คิววงกลม</a:t>
            </a:r>
            <a:r>
              <a:rPr sz="1800" b="0" i="0" u="none" dirty="0">
                <a:solidFill>
                  <a:srgbClr val="475569"/>
                </a:solidFill>
                <a:latin typeface="Sarabun"/>
              </a:rPr>
              <a:t> (Circular Queue) </a:t>
            </a:r>
            <a:r>
              <a:rPr sz="1800" b="0" i="0" u="none" dirty="0" err="1">
                <a:solidFill>
                  <a:srgbClr val="475569"/>
                </a:solidFill>
                <a:latin typeface="Sarabun"/>
              </a:rPr>
              <a:t>คือทางเลือกที่สมบูรณ์แบบสำหรับการออกแบบระบบ</a:t>
            </a:r>
            <a:r>
              <a:rPr sz="1800" b="0" i="0" u="none" dirty="0">
                <a:solidFill>
                  <a:srgbClr val="475569"/>
                </a:solidFill>
                <a:latin typeface="Sarabun"/>
              </a:rPr>
              <a:t> Network Packet Buffer </a:t>
            </a:r>
            <a:r>
              <a:rPr sz="1800" b="0" i="0" u="none" dirty="0" err="1">
                <a:solidFill>
                  <a:srgbClr val="475569"/>
                </a:solidFill>
                <a:latin typeface="Sarabun"/>
              </a:rPr>
              <a:t>ช่วยป้องกัน</a:t>
            </a:r>
            <a:r>
              <a:rPr sz="1800" b="0" i="0" u="none" dirty="0">
                <a:solidFill>
                  <a:srgbClr val="475569"/>
                </a:solidFill>
                <a:latin typeface="Sarabun"/>
              </a:rPr>
              <a:t> False Overflow </a:t>
            </a:r>
            <a:r>
              <a:rPr sz="1800" b="0" i="0" u="none" dirty="0" err="1">
                <a:solidFill>
                  <a:srgbClr val="475569"/>
                </a:solidFill>
                <a:latin typeface="Sarabun"/>
              </a:rPr>
              <a:t>โดยไม่ต้องเพิ่มต้นทุนฮาร์ดแวร์</a:t>
            </a:r>
            <a:endParaRPr sz="1800" b="0" i="0" u="none" dirty="0">
              <a:solidFill>
                <a:srgbClr val="475569"/>
              </a:solidFill>
              <a:latin typeface="Sarab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734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Prompt</vt:lpstr>
      <vt:lpstr>Prompt Medium</vt:lpstr>
      <vt:lpstr>Prompt SemiBold</vt:lpstr>
      <vt:lpstr>Sarabun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nani momorun</cp:lastModifiedBy>
  <cp:revision>2</cp:revision>
  <dcterms:created xsi:type="dcterms:W3CDTF">2013-01-27T09:14:16Z</dcterms:created>
  <dcterms:modified xsi:type="dcterms:W3CDTF">2026-09-09T14:17:36Z</dcterms:modified>
  <cp:category/>
</cp:coreProperties>
</file>